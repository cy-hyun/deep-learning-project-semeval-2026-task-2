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Montserrat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D86DE6-52C9-440B-B78C-ECAA66DC7167}">
  <a:tblStyle styleId="{21D86DE6-52C9-440B-B78C-ECAA66DC71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824d267e6_0_2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824d267e6_0_25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6b4e5ff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86b4e5ff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824d267e6_0_2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824d267e6_0_2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24d267e6_0_2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824d267e6_0_2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824d267e6_0_2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824d267e6_0_26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824d267e6_0_2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b824d267e6_0_24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24d267e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824d267e6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824d267e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b824d267e6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824d267e6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b824d267e6_0_3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824d267e6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b824d267e6_0_4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24d267e6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b824d267e6_0_5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824d267e6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b824d267e6_0_6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824d267e6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b824d267e6_0_7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824d267e6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b824d267e6_0_20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824d267e6_0_2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b824d267e6_0_27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824d267e6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b824d267e6_0_18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824d267e6_0_1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b824d267e6_0_19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824d267e6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b824d267e6_0_2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824d267e6_0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b824d267e6_0_13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824d267e6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b824d267e6_0_1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5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Relationship Id="rId8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61.png"/><Relationship Id="rId5" Type="http://schemas.openxmlformats.org/officeDocument/2006/relationships/image" Target="../media/image25.png"/><Relationship Id="rId6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54.png"/><Relationship Id="rId10" Type="http://schemas.openxmlformats.org/officeDocument/2006/relationships/image" Target="../media/image56.png"/><Relationship Id="rId9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53.png"/><Relationship Id="rId8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48.png"/><Relationship Id="rId5" Type="http://schemas.openxmlformats.org/officeDocument/2006/relationships/image" Target="../media/image59.png"/><Relationship Id="rId6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2.png"/><Relationship Id="rId8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6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250" y="4286250"/>
            <a:ext cx="3619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4286250"/>
            <a:ext cx="3619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95300" y="1362075"/>
            <a:ext cx="11201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Emotional State Change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Forecasting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181350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Predicting Variation in Emotional Valence and Arousal from Longitudinal Ecological Essays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6410325"/>
            <a:ext cx="112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SemEval 2026 Task 2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658350" y="6410325"/>
            <a:ext cx="1771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Télécom SudParis | January 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238375" y="4524375"/>
            <a:ext cx="31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Subtask 1: Between-User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238375" y="4857750"/>
            <a:ext cx="31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[Teammate Name]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10375" y="4524375"/>
            <a:ext cx="31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Subtask 2a: State Change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810375" y="4857750"/>
            <a:ext cx="31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Hyun Chang-Yong (현창용)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21781"/>
            <a:ext cx="5095875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21993"/>
            <a:ext cx="5095875" cy="155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1416843"/>
            <a:ext cx="53506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The Longitudinal Affect Challenge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1826418"/>
            <a:ext cx="50958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Modeling emotional shifts over time (2021-2024) using self-reported first-person affect scores collected via ecological essays.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9650" y="3193256"/>
            <a:ext cx="46577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Subtask 1: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Predicting emotional states for </a:t>
            </a:r>
            <a:r>
              <a:rPr b="0" i="1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different users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based on shared linguistic cues and contextual invariants.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9650" y="4893468"/>
            <a:ext cx="46577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Subtask 2a: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Forecasting </a:t>
            </a:r>
            <a:r>
              <a:rPr b="0" i="1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future states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 a specific user using their historical emotional trajectory and textual sequence.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Joint Project Overview &amp; Objectives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62000" y="571500"/>
            <a:ext cx="95250" cy="447675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24050"/>
            <a:ext cx="50768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1840706"/>
            <a:ext cx="10668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PART I</a:t>
            </a:r>
            <a:r>
              <a:rPr b="1" lang="en-US" sz="1425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95300" y="2302668"/>
            <a:ext cx="1120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Subtask </a:t>
            </a:r>
            <a:r>
              <a:rPr b="1"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2286000" y="4074318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content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381625" y="5141118"/>
            <a:ext cx="1428900" cy="573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957000" y="5595950"/>
            <a:ext cx="2394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Rostislav SVITSOV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(Subtask 1)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1927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2214562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Identifying Linguistic Invariants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2624137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The primary goal is to find universal markers of emotion that transcend individual writing styles and vocabulary usage.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1927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85825" y="3355181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3357562"/>
            <a:ext cx="4905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Extraction of high-level semantic features using pre-trained Transformer backbones.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85825" y="4040981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4043362"/>
            <a:ext cx="4905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Zero-shot and Few-shot adaptation strategies for new users.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85825" y="4726781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4729162"/>
            <a:ext cx="4905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Contextual metadata integration to normalize cross-user variability.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715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Subtask 1: Cross-User Generalization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2357437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Identifying Linguistic Invariants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2767012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 primary goal is to find universal markers of emotion that transcend individual writing styles.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076325" y="3498056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143000" y="3500437"/>
            <a:ext cx="4714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Extraction of high-level semantic features using pre-trained Transformer backbones.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76325" y="4040981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143000" y="4043362"/>
            <a:ext cx="4714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Zero-shot and Few-shot adaptation strategies for new users.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76325" y="4583906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143000" y="4586287"/>
            <a:ext cx="4714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Contextual metadata integration to normalize cross-user variability.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Subtask 1: Cross-User Generalization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133725"/>
            <a:ext cx="50958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343400"/>
            <a:ext cx="50958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334125" y="2038350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Defining the Affective Space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34125" y="2447925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Emotional states are represented as coordinates in a 2D space defined by activation and pleasantness.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581775" y="3324225"/>
            <a:ext cx="4657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Activation (Arousal):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The intensity level from Surge to Deactivation.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581775" y="4533900"/>
            <a:ext cx="4657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Pleasantness (Valence):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Intrinsic evaluation from Positive to Negative.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Russell’s Circumplex Model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86050"/>
            <a:ext cx="5095875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386262"/>
            <a:ext cx="5095875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334125" y="1552575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Russell’s Circumplex Model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334125" y="1962150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Affective states are represented across two orthogonal dimensions defining the complete emotional landscape.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581775" y="3057525"/>
            <a:ext cx="4657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Activation (Arousal):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Intensity level ranging from High Activation (Surprise, Fear) to Deactivation (Calm, Sadness).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581775" y="4757737"/>
            <a:ext cx="4657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Pleasantness (Valence):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Intrinsic attractiveness evaluation from Positive (Happiness) to Negative (Upset).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Mapping the Emotional Space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762000" y="1840706"/>
            <a:ext cx="10668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PART II: TECHNICAL DEEP DIVE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5300" y="2302668"/>
            <a:ext cx="11201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Subtask 2a: State Change Forecasting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2286000" y="4074318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Optimizing longitudinal sequence modeling through hybrid architectures and specialized dimension weighting.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381625" y="5141118"/>
            <a:ext cx="1428750" cy="5715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295900" y="5579281"/>
            <a:ext cx="16002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Changyong Hyun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(Subtask2a)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15566"/>
            <a:ext cx="5095875" cy="3807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16597"/>
            <a:ext cx="5095875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41477"/>
            <a:ext cx="5095875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1915566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The Longitudinal Corpus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762000" y="2325141"/>
            <a:ext cx="5095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Analyzing 137 training and 46 test users over a 15-month research lifecycle (Nov 2024 - Jan 2026).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29400" y="2210841"/>
            <a:ext cx="473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Temporal EDA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104900" y="3311872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Valence Distribution: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Mean 2.1, Std 0.9. Balanced 0-4 scale distribution showing standard report variance.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104900" y="4736752"/>
            <a:ext cx="4457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Arousal Distribution: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Mean 1.0, Std 0.6. Lower variance indicates higher subjectivity and prediction difficulty.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22989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6753225" y="2619464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819900" y="2620416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Irregular Sampling: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Non-uniform time intervals between essay entries requiring sequence modeling.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53225" y="3263294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819900" y="3264247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Longitudinal Density: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Average of 25 entries per user over a 3-year span.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53225" y="3907125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819900" y="3908077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Volatility Gap: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Arousal shifts are 38% less frequent but more sporadic than valence shifts.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53225" y="4550955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819900" y="4551908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Missing Data: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Handled through temporal feature engineering and lag representations.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952500" y="609675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Dataset Analysis &amp; EDA Insights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762000" y="609675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14525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924050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6334125" y="1971823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Semantic-Temporal Integration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334125" y="2333773"/>
            <a:ext cx="5095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Capturing both instantaneous textual affect and long-term sequential momentum.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457950" y="3033801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524625" y="3034754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RoBERTa-base: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Extracts 768-dim contextual text embeddings from CLS tokens.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457950" y="3677632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524625" y="3678584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BiLSTM: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Dual-layer 256-unit modeling of sequential transitions and temporal dependencies.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457950" y="4321462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524625" y="4322415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Multi-Head Attention: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8-head mechanism to refine salient emotional cues across sequence steps.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457950" y="4965293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524625" y="4966245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Dual-Head Output: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Decoupled regression heads optimized separately for Valence and Arousal targets.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62025" y="568875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Hybrid Model Architecture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771525" y="568875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36281"/>
            <a:ext cx="110490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857250" y="4774406"/>
            <a:ext cx="10525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Innovation: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Dynamic feature dimension handling (863 vs 866) ensures compatibility between standard and specialized models in the production pipeline.</a:t>
            </a:r>
            <a:endParaRPr/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64568"/>
            <a:ext cx="2965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866775" y="2712243"/>
            <a:ext cx="3113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Textual (768)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66775" y="2931318"/>
            <a:ext cx="296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RoBERTa CLS embeddings capturing deep essay semantics and linguistic patterns.</a:t>
            </a:r>
            <a:endParaRPr/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264568"/>
            <a:ext cx="2965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4613225" y="2712243"/>
            <a:ext cx="3113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Temporal (20)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613225" y="2931318"/>
            <a:ext cx="296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Lags (1-3), moving averages (5, 10), and 3 specific </a:t>
            </a: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Arousal Dynamics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features.</a:t>
            </a:r>
            <a:endParaRPr/>
          </a:p>
        </p:txBody>
      </p:sp>
      <p:pic>
        <p:nvPicPr>
          <p:cNvPr descr="image.png" id="249" name="Google Shape;24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264568"/>
            <a:ext cx="2965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8359675" y="2712243"/>
            <a:ext cx="3113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Personal (29)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359675" y="2931318"/>
            <a:ext cx="296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64-dim Learnable User Embeddings &amp; historical user statistics for personalization.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Advanced 47-Dim Feature Taxonomy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47912"/>
            <a:ext cx="528637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52662"/>
            <a:ext cx="5286375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71500" y="2347912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53E3E"/>
                </a:solidFill>
                <a:latin typeface="Montserrat"/>
                <a:ea typeface="Montserrat"/>
                <a:cs typeface="Montserrat"/>
                <a:sym typeface="Montserrat"/>
              </a:rPr>
              <a:t>Identifying the Performance Gap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571500" y="2757487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Initial ensemble analysis revealed a critical failure point in energy-level forecasting compared to pleasantness.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71500" y="4633912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E53E3E"/>
                </a:solidFill>
                <a:latin typeface="Open Sans"/>
                <a:ea typeface="Open Sans"/>
                <a:cs typeface="Open Sans"/>
                <a:sym typeface="Open Sans"/>
              </a:rPr>
              <a:t>Diagnosis: Arousal is introspectively complex and report-noisy.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619875" y="2693342"/>
            <a:ext cx="50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2C2C"/>
                </a:solidFill>
                <a:latin typeface="Open Sans"/>
                <a:ea typeface="Open Sans"/>
                <a:cs typeface="Open Sans"/>
                <a:sym typeface="Open Sans"/>
              </a:rPr>
              <a:t>Root Cause Analysis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657975" y="3052911"/>
            <a:ext cx="15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810375" y="3055292"/>
            <a:ext cx="457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Subjective Variance: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Users struggle to define energy levels (Activation) more than mood (Pleasantness).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657975" y="4014936"/>
            <a:ext cx="15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882075" y="4014917"/>
            <a:ext cx="457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Low Variation: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Standard loss functions ignore subtle arousal shifts, focusing on higher-variance valence.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The Arousal Prediction Bottleneck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/>
        </p:nvSpPr>
        <p:spPr>
          <a:xfrm>
            <a:off x="571500" y="2738437"/>
            <a:ext cx="5286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90%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571500" y="4071937"/>
            <a:ext cx="528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F3A"/>
                </a:solidFill>
                <a:latin typeface="Open Sans"/>
                <a:ea typeface="Open Sans"/>
                <a:cs typeface="Open Sans"/>
                <a:sym typeface="Open Sans"/>
              </a:rPr>
              <a:t>CCC Loss Weighting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571500" y="4586287"/>
            <a:ext cx="52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Dimension-Specific Shift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334125" y="1857375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Specialized Parameter Optimization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334125" y="2219325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Developed a dedicated model architecture designed to master the energy-activation forecasting gap.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6334125" y="4981575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Result: +6% absolute improvement in Arousal CCC.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457950" y="2931318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6524625" y="2933700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Loss Shift: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Re-weighted CCC loss (70% → 90%) to prioritize agreement over mean-error.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6457950" y="3588543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6524625" y="3590925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Dynamic Sampling: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Weighted data loading to prioritize "high-change" emotional shifts during training.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457950" y="4245768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524625" y="4248150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New Features: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Added Volatility and Acceleration metrics specifically for Arousal.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Innovation: Arousal-Specialist Model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Google Shape;292;p26"/>
          <p:cNvGraphicFramePr/>
          <p:nvPr/>
        </p:nvGraphicFramePr>
        <p:xfrm>
          <a:off x="571500" y="18311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{21D86DE6-52C9-440B-B78C-ECAA66DC7167}</a:tableStyleId>
              </a:tblPr>
              <a:tblGrid>
                <a:gridCol w="2489300"/>
                <a:gridCol w="984950"/>
                <a:gridCol w="1890275"/>
                <a:gridCol w="1876875"/>
                <a:gridCol w="1810350"/>
                <a:gridCol w="1997275"/>
              </a:tblGrid>
              <a:tr h="56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 Variant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Valence CCC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Arousal CCC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Overall CCC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56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Final Ensemble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0.7593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0.5832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0.6833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 Winner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FF4"/>
                    </a:solidFill>
                  </a:tcPr>
                </a:tc>
              </a:tr>
              <a:tr h="56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seed777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777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0.7593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0.5516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0.6554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Base Leader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6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Arousal Specialist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0.7192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0.5832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0.6512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Aro Specialist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6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seed888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0.7201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0.5221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0.6211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Archived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6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seed123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0.6298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0.4362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0.5330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Excluded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6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0.6532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0.3574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0.5053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Discarded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293;p26"/>
          <p:cNvSpPr/>
          <p:nvPr/>
        </p:nvSpPr>
        <p:spPr>
          <a:xfrm>
            <a:off x="571500" y="2378868"/>
            <a:ext cx="24894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3060799" y="2378868"/>
            <a:ext cx="9849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4045743" y="2378868"/>
            <a:ext cx="18903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936009" y="2378868"/>
            <a:ext cx="18768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7812881" y="2378868"/>
            <a:ext cx="18102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9623226" y="2378868"/>
            <a:ext cx="19974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571500" y="2959893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3060799" y="2959893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4045743" y="2959893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936009" y="2959893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7812881" y="2959893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9623226" y="2959893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71500" y="3526631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060799" y="3526631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4045743" y="3526631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936009" y="3526631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7812881" y="3526631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9623226" y="3526631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571500" y="4093368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3060799" y="4093368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4045743" y="4093368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5936009" y="4093368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7812881" y="4093368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9623226" y="4093368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571500" y="4660106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3060799" y="4660106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045743" y="4660106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5936009" y="4660106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7812881" y="4660106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9623226" y="4660106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5226843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3060799" y="5226843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4045743" y="5226843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936009" y="5226843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7812881" y="5226843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9623226" y="5226843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571500" y="5793581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3060799" y="5793581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045743" y="5793581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936009" y="5793581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7812881" y="5793581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9623226" y="5793581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Detailed Model Benchmarks</a:t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45323" y="-114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49723"/>
            <a:ext cx="5095875" cy="2539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25092"/>
            <a:ext cx="5095875" cy="19734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 txBox="1"/>
          <p:nvPr/>
        </p:nvSpPr>
        <p:spPr>
          <a:xfrm>
            <a:off x="762000" y="1749772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Why 2-Model is Optimal?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762000" y="2159347"/>
            <a:ext cx="50958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Grid search testing (~5,000 combinations) proved that combining the strongest generalist with the dimension-specialist yielded peak stability.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762000" y="5289053"/>
            <a:ext cx="5095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Note: 3-model and 5-model configurations underperformed due to noise injection from weaker seeds (e.g., seed42, seed123).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734175" y="2949773"/>
            <a:ext cx="42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Final Achievement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6734175" y="3319313"/>
            <a:ext cx="4295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+10.4%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6734175" y="4271813"/>
            <a:ext cx="42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F3A"/>
                </a:solidFill>
                <a:latin typeface="Open Sans"/>
                <a:ea typeface="Open Sans"/>
                <a:cs typeface="Open Sans"/>
                <a:sym typeface="Open Sans"/>
              </a:rPr>
              <a:t>Surpassing Competition Target (0.62)</a:t>
            </a:r>
            <a:endParaRPr/>
          </a:p>
        </p:txBody>
      </p:sp>
      <p:sp>
        <p:nvSpPr>
          <p:cNvPr id="350" name="Google Shape;350;p27"/>
          <p:cNvSpPr txBox="1"/>
          <p:nvPr/>
        </p:nvSpPr>
        <p:spPr>
          <a:xfrm>
            <a:off x="1104900" y="3357255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seed777 (50.16%):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Master of Valence and baseline trends.</a:t>
            </a:r>
            <a:endParaRPr/>
          </a:p>
        </p:txBody>
      </p:sp>
      <p:sp>
        <p:nvSpPr>
          <p:cNvPr id="351" name="Google Shape;351;p27"/>
          <p:cNvSpPr txBox="1"/>
          <p:nvPr/>
        </p:nvSpPr>
        <p:spPr>
          <a:xfrm>
            <a:off x="1104900" y="4111823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Specialist (49.84%):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Corrects energy-prediction bias and activation shifts.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905375" y="5760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The "Quality-over-Quantity" Ensemble</a:t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5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51807"/>
            <a:ext cx="5095875" cy="2535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3550" y="4469010"/>
            <a:ext cx="14859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9950" y="4469010"/>
            <a:ext cx="14763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8"/>
          <p:cNvSpPr txBox="1"/>
          <p:nvPr/>
        </p:nvSpPr>
        <p:spPr>
          <a:xfrm>
            <a:off x="762000" y="2769840"/>
            <a:ext cx="5095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0.6833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762000" y="3912840"/>
            <a:ext cx="509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Final Combined CCC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6629400" y="2847082"/>
            <a:ext cx="473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Project Statistics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6629400" y="3256657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Models Trained: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5 (All iterations)</a:t>
            </a: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6629400" y="3626197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GPU Commitment: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~10 Cumulative Hours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6629400" y="3995737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Ensemble: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2-model (Generalist + Specialist)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6629400" y="4365277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Achievement: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+10.4% Above 0.62 Target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Comprehensive Results Summary</a:t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022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80022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1477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91477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0478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9"/>
          <p:cNvSpPr txBox="1"/>
          <p:nvPr/>
        </p:nvSpPr>
        <p:spPr>
          <a:xfrm>
            <a:off x="1009650" y="249555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1009650" y="286702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PyTorch 2.0+ Core Framework, Hugging Face Transformers, and RoBERTa-base (125M params).</a:t>
            </a:r>
            <a:endParaRPr/>
          </a:p>
        </p:txBody>
      </p:sp>
      <p:pic>
        <p:nvPicPr>
          <p:cNvPr descr="image.png" id="383" name="Google Shape;38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900" y="2047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 txBox="1"/>
          <p:nvPr/>
        </p:nvSpPr>
        <p:spPr>
          <a:xfrm>
            <a:off x="6438900" y="249555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Infrastructure</a:t>
            </a:r>
            <a:endParaRPr/>
          </a:p>
        </p:txBody>
      </p:sp>
      <p:sp>
        <p:nvSpPr>
          <p:cNvPr id="385" name="Google Shape;385;p29"/>
          <p:cNvSpPr txBox="1"/>
          <p:nvPr/>
        </p:nvSpPr>
        <p:spPr>
          <a:xfrm>
            <a:off x="6438900" y="286702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Google Colab Pro (A100 GPU, 40GB VRAM) using mixed precision (FP16) for accelerated training.</a:t>
            </a:r>
            <a:endParaRPr/>
          </a:p>
        </p:txBody>
      </p:sp>
      <p:pic>
        <p:nvPicPr>
          <p:cNvPr descr="image.png" id="386" name="Google Shape;386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41624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1009650" y="461010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Data &amp; Analytics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1009650" y="498157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pandas, numpy, scikit-learn for processing, and Custom Grid Search for ensemble optimization.</a:t>
            </a:r>
            <a:endParaRPr/>
          </a:p>
        </p:txBody>
      </p:sp>
      <p:pic>
        <p:nvPicPr>
          <p:cNvPr descr="image.png" id="389" name="Google Shape;389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8900" y="41624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 txBox="1"/>
          <p:nvPr/>
        </p:nvSpPr>
        <p:spPr>
          <a:xfrm>
            <a:off x="6438900" y="461010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6438900" y="498157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Python 3.10+ Environment, Git + GitHub Version Control, and modular pipeline design.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Technical Stack &amp; Infrastructure</a:t>
            </a:r>
            <a:endParaRPr/>
          </a:p>
        </p:txBody>
      </p:sp>
      <p:sp>
        <p:nvSpPr>
          <p:cNvPr id="393" name="Google Shape;393;p29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11994"/>
            <a:ext cx="5286375" cy="166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11994"/>
            <a:ext cx="5286375" cy="166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57650"/>
            <a:ext cx="5286375" cy="166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57650"/>
            <a:ext cx="5286375" cy="166940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 txBox="1"/>
          <p:nvPr/>
        </p:nvSpPr>
        <p:spPr>
          <a:xfrm>
            <a:off x="866775" y="2409825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53E3E"/>
                </a:solidFill>
                <a:latin typeface="Open Sans"/>
                <a:ea typeface="Open Sans"/>
                <a:cs typeface="Open Sans"/>
                <a:sym typeface="Open Sans"/>
              </a:rPr>
              <a:t>Arousal Gap (38%)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866775" y="2714625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b="0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Arousal-Specialized Model with 90% CCC loss weighting and weighted sampling for high-variation events.</a:t>
            </a:r>
            <a:endParaRPr/>
          </a:p>
        </p:txBody>
      </p:sp>
      <p:sp>
        <p:nvSpPr>
          <p:cNvPr id="404" name="Google Shape;404;p30"/>
          <p:cNvSpPr txBox="1"/>
          <p:nvPr/>
        </p:nvSpPr>
        <p:spPr>
          <a:xfrm>
            <a:off x="6629400" y="2409825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Dimension Mismatch</a:t>
            </a:r>
            <a:endParaRPr/>
          </a:p>
        </p:txBody>
      </p:sp>
      <p:sp>
        <p:nvSpPr>
          <p:cNvPr id="405" name="Google Shape;405;p30"/>
          <p:cNvSpPr txBox="1"/>
          <p:nvPr/>
        </p:nvSpPr>
        <p:spPr>
          <a:xfrm>
            <a:off x="6629400" y="2714625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b="0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Implemented dynamic dimension handling with runtime feature slicing (863 ↔ 866 dims).</a:t>
            </a: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866775" y="4555480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Ensemble Noise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866775" y="4860280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b="0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2-model quality-over-quantity approach, removing weaker seeds (42, 123) that diluted overall performance.</a:t>
            </a:r>
            <a:endParaRPr/>
          </a:p>
        </p:txBody>
      </p:sp>
      <p:sp>
        <p:nvSpPr>
          <p:cNvPr id="408" name="Google Shape;408;p30"/>
          <p:cNvSpPr txBox="1"/>
          <p:nvPr/>
        </p:nvSpPr>
        <p:spPr>
          <a:xfrm>
            <a:off x="6629400" y="4555480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Resource Constraints</a:t>
            </a:r>
            <a:endParaRPr/>
          </a:p>
        </p:txBody>
      </p:sp>
      <p:sp>
        <p:nvSpPr>
          <p:cNvPr id="409" name="Google Shape;409;p30"/>
          <p:cNvSpPr txBox="1"/>
          <p:nvPr/>
        </p:nvSpPr>
        <p:spPr>
          <a:xfrm>
            <a:off x="6629400" y="4860280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b="0" i="0" lang="en-US" sz="12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Leveraged A100 GPU infrastructure with optimized batch processing and gradient accumulation techniques.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Challenges &amp; Solutions</a:t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38425"/>
            <a:ext cx="3429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638425"/>
            <a:ext cx="3429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2638425"/>
            <a:ext cx="3429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9337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1"/>
          <p:cNvSpPr txBox="1"/>
          <p:nvPr/>
        </p:nvSpPr>
        <p:spPr>
          <a:xfrm>
            <a:off x="1057275" y="3429000"/>
            <a:ext cx="29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Technical</a:t>
            </a:r>
            <a:endParaRPr/>
          </a:p>
        </p:txBody>
      </p:sp>
      <p:sp>
        <p:nvSpPr>
          <p:cNvPr id="422" name="Google Shape;422;p31"/>
          <p:cNvSpPr txBox="1"/>
          <p:nvPr/>
        </p:nvSpPr>
        <p:spPr>
          <a:xfrm>
            <a:off x="1057275" y="3648075"/>
            <a:ext cx="28386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Dimension-specific optimization is 4.3% more powerful than generic multi-tasking. Loss engineering (90% CCC) is critical for agreement metrics.</a:t>
            </a:r>
            <a:endParaRPr/>
          </a:p>
        </p:txBody>
      </p:sp>
      <p:pic>
        <p:nvPicPr>
          <p:cNvPr descr="image.png" id="423" name="Google Shape;42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9337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1"/>
          <p:cNvSpPr txBox="1"/>
          <p:nvPr/>
        </p:nvSpPr>
        <p:spPr>
          <a:xfrm>
            <a:off x="4676775" y="3429000"/>
            <a:ext cx="29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Research</a:t>
            </a:r>
            <a:endParaRPr/>
          </a:p>
        </p:txBody>
      </p:sp>
      <p:sp>
        <p:nvSpPr>
          <p:cNvPr id="425" name="Google Shape;425;p31"/>
          <p:cNvSpPr txBox="1"/>
          <p:nvPr/>
        </p:nvSpPr>
        <p:spPr>
          <a:xfrm>
            <a:off x="4676775" y="3648075"/>
            <a:ext cx="28386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Systematic multi-seed experimentation reduced variance by 12%. Ablation studies proved temporal features contribute 6% to overall accuracy.</a:t>
            </a:r>
            <a:endParaRPr/>
          </a:p>
        </p:txBody>
      </p:sp>
      <p:pic>
        <p:nvPicPr>
          <p:cNvPr descr="image.png" id="426" name="Google Shape;42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96275" y="29337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1"/>
          <p:cNvSpPr txBox="1"/>
          <p:nvPr/>
        </p:nvSpPr>
        <p:spPr>
          <a:xfrm>
            <a:off x="8296275" y="3429000"/>
            <a:ext cx="29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endParaRPr/>
          </a:p>
        </p:txBody>
      </p:sp>
      <p:sp>
        <p:nvSpPr>
          <p:cNvPr id="428" name="Google Shape;428;p31"/>
          <p:cNvSpPr txBox="1"/>
          <p:nvPr/>
        </p:nvSpPr>
        <p:spPr>
          <a:xfrm>
            <a:off x="8296275" y="3648075"/>
            <a:ext cx="28386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Timeline estimation is hard (15 months actual vs 4 weeks planned). Documentation is vital for reproducibility across research cycles.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941225" y="5760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Key Learnings &amp; Insights</a:t>
            </a:r>
            <a:endParaRPr/>
          </a:p>
        </p:txBody>
      </p:sp>
      <p:sp>
        <p:nvSpPr>
          <p:cNvPr id="430" name="Google Shape;430;p31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5" name="Google Shape;43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20526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5500" y="339804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5500" y="487918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 txBox="1"/>
          <p:nvPr/>
        </p:nvSpPr>
        <p:spPr>
          <a:xfrm>
            <a:off x="2714625" y="1971675"/>
            <a:ext cx="7115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Target Exceeded</a:t>
            </a: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2714625" y="2243137"/>
            <a:ext cx="7115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Achieved CCC 0.6833, surpassing 0.62 target by 10.4% through systematic iteration.</a:t>
            </a:r>
            <a:endParaRPr/>
          </a:p>
        </p:txBody>
      </p:sp>
      <p:sp>
        <p:nvSpPr>
          <p:cNvPr id="440" name="Google Shape;440;p32"/>
          <p:cNvSpPr txBox="1"/>
          <p:nvPr/>
        </p:nvSpPr>
        <p:spPr>
          <a:xfrm>
            <a:off x="2571750" y="3181350"/>
            <a:ext cx="7572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Key Innovation</a:t>
            </a:r>
            <a:endParaRPr/>
          </a:p>
        </p:txBody>
      </p:sp>
      <p:sp>
        <p:nvSpPr>
          <p:cNvPr id="441" name="Google Shape;441;p32"/>
          <p:cNvSpPr txBox="1"/>
          <p:nvPr/>
        </p:nvSpPr>
        <p:spPr>
          <a:xfrm>
            <a:off x="2571750" y="3452812"/>
            <a:ext cx="7572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Arousal-Specialized Model solved the 38% prediction gap by shifting loss weighting to 90% CCC.</a:t>
            </a:r>
            <a:endParaRPr/>
          </a:p>
        </p:txBody>
      </p:sp>
      <p:sp>
        <p:nvSpPr>
          <p:cNvPr id="442" name="Google Shape;442;p32"/>
          <p:cNvSpPr txBox="1"/>
          <p:nvPr/>
        </p:nvSpPr>
        <p:spPr>
          <a:xfrm>
            <a:off x="2667000" y="4662487"/>
            <a:ext cx="7477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Ready for Submission</a:t>
            </a:r>
            <a:endParaRPr/>
          </a:p>
        </p:txBody>
      </p:sp>
      <p:sp>
        <p:nvSpPr>
          <p:cNvPr id="443" name="Google Shape;443;p32"/>
          <p:cNvSpPr txBox="1"/>
          <p:nvPr/>
        </p:nvSpPr>
        <p:spPr>
          <a:xfrm>
            <a:off x="2667000" y="4933950"/>
            <a:ext cx="7477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Production-grade pipeline with dynamic dimension handling is finalized for SemEval 2026.</a:t>
            </a:r>
            <a:endParaRPr/>
          </a:p>
        </p:txBody>
      </p:sp>
      <p:sp>
        <p:nvSpPr>
          <p:cNvPr id="444" name="Google Shape;444;p32"/>
          <p:cNvSpPr txBox="1"/>
          <p:nvPr/>
        </p:nvSpPr>
        <p:spPr>
          <a:xfrm>
            <a:off x="967775" y="576000"/>
            <a:ext cx="1170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445" name="Google Shape;445;p32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25141"/>
            <a:ext cx="5095875" cy="298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25141"/>
            <a:ext cx="5095875" cy="298876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3"/>
          <p:cNvSpPr txBox="1"/>
          <p:nvPr/>
        </p:nvSpPr>
        <p:spPr>
          <a:xfrm>
            <a:off x="1057275" y="2658516"/>
            <a:ext cx="473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Short-Term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6629400" y="2658516"/>
            <a:ext cx="473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Long-Term</a:t>
            </a:r>
            <a:endParaRPr/>
          </a:p>
        </p:txBody>
      </p:sp>
      <p:sp>
        <p:nvSpPr>
          <p:cNvPr id="455" name="Google Shape;455;p33"/>
          <p:cNvSpPr txBox="1"/>
          <p:nvPr/>
        </p:nvSpPr>
        <p:spPr>
          <a:xfrm>
            <a:off x="1371600" y="302903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1371600" y="367286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57" name="Google Shape;457;p33"/>
          <p:cNvSpPr txBox="1"/>
          <p:nvPr/>
        </p:nvSpPr>
        <p:spPr>
          <a:xfrm>
            <a:off x="1521900" y="3029997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Model Scaling: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Testing RoBERTa-large (355M params) for expected +2-3% gain.</a:t>
            </a:r>
            <a:endParaRPr/>
          </a:p>
        </p:txBody>
      </p:sp>
      <p:sp>
        <p:nvSpPr>
          <p:cNvPr id="458" name="Google Shape;458;p33"/>
          <p:cNvSpPr txBox="1"/>
          <p:nvPr/>
        </p:nvSpPr>
        <p:spPr>
          <a:xfrm>
            <a:off x="1581650" y="3725777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Meta-Learning: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Advanced neural ensembles for dynamic user adaptation.</a:t>
            </a:r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6943725" y="302903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7010400" y="3029991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Multimodal Signals: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Integrating audio/video physiological data for energy activation.</a:t>
            </a:r>
            <a:endParaRPr/>
          </a:p>
        </p:txBody>
      </p:sp>
      <p:sp>
        <p:nvSpPr>
          <p:cNvPr id="461" name="Google Shape;461;p33"/>
          <p:cNvSpPr txBox="1"/>
          <p:nvPr/>
        </p:nvSpPr>
        <p:spPr>
          <a:xfrm>
            <a:off x="6943725" y="367286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62" name="Google Shape;462;p33"/>
          <p:cNvSpPr txBox="1"/>
          <p:nvPr/>
        </p:nvSpPr>
        <p:spPr>
          <a:xfrm>
            <a:off x="7010400" y="3673822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Causal Modeling: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Identifying direct Text → Emotion causal relationships.</a:t>
            </a:r>
            <a:endParaRPr/>
          </a:p>
        </p:txBody>
      </p:sp>
      <p:sp>
        <p:nvSpPr>
          <p:cNvPr id="463" name="Google Shape;463;p33"/>
          <p:cNvSpPr txBox="1"/>
          <p:nvPr/>
        </p:nvSpPr>
        <p:spPr>
          <a:xfrm>
            <a:off x="6943725" y="4316700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64" name="Google Shape;464;p33"/>
          <p:cNvSpPr txBox="1"/>
          <p:nvPr/>
        </p:nvSpPr>
        <p:spPr>
          <a:xfrm>
            <a:off x="7010400" y="4317652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Real-time Inference: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Model quantization for &lt;100ms latency on mobile platforms.</a:t>
            </a:r>
            <a:endParaRPr/>
          </a:p>
        </p:txBody>
      </p:sp>
      <p:sp>
        <p:nvSpPr>
          <p:cNvPr id="465" name="Google Shape;465;p33"/>
          <p:cNvSpPr txBox="1"/>
          <p:nvPr/>
        </p:nvSpPr>
        <p:spPr>
          <a:xfrm>
            <a:off x="990600" y="5760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Future Directions</a:t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1" name="Google Shape;4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4"/>
          <p:cNvSpPr txBox="1"/>
          <p:nvPr/>
        </p:nvSpPr>
        <p:spPr>
          <a:xfrm>
            <a:off x="530066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b="1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Nov 2024</a:t>
            </a:r>
            <a:endParaRPr/>
          </a:p>
        </p:txBody>
      </p:sp>
      <p:sp>
        <p:nvSpPr>
          <p:cNvPr id="473" name="Google Shape;473;p34"/>
          <p:cNvSpPr txBox="1"/>
          <p:nvPr/>
        </p:nvSpPr>
        <p:spPr>
          <a:xfrm>
            <a:off x="571500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EDA &amp; Baseline Design</a:t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2408277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b="1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 19</a:t>
            </a:r>
            <a:endParaRPr/>
          </a:p>
        </p:txBody>
      </p:sp>
      <p:sp>
        <p:nvSpPr>
          <p:cNvPr id="475" name="Google Shape;475;p34"/>
          <p:cNvSpPr txBox="1"/>
          <p:nvPr/>
        </p:nvSpPr>
        <p:spPr>
          <a:xfrm>
            <a:off x="2449710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Grid Search / 0.63 CCC</a:t>
            </a:r>
            <a:endParaRPr/>
          </a:p>
        </p:txBody>
      </p:sp>
      <p:sp>
        <p:nvSpPr>
          <p:cNvPr id="476" name="Google Shape;476;p34"/>
          <p:cNvSpPr txBox="1"/>
          <p:nvPr/>
        </p:nvSpPr>
        <p:spPr>
          <a:xfrm>
            <a:off x="4281196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b="1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 23</a:t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4327921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Specialist Dev / Aro Gap Study</a:t>
            </a:r>
            <a:endParaRPr/>
          </a:p>
        </p:txBody>
      </p:sp>
      <p:sp>
        <p:nvSpPr>
          <p:cNvPr id="478" name="Google Shape;478;p34"/>
          <p:cNvSpPr txBox="1"/>
          <p:nvPr/>
        </p:nvSpPr>
        <p:spPr>
          <a:xfrm>
            <a:off x="6164699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b="1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 24</a:t>
            </a:r>
            <a:endParaRPr/>
          </a:p>
        </p:txBody>
      </p:sp>
      <p:sp>
        <p:nvSpPr>
          <p:cNvPr id="479" name="Google Shape;479;p34"/>
          <p:cNvSpPr txBox="1"/>
          <p:nvPr/>
        </p:nvSpPr>
        <p:spPr>
          <a:xfrm>
            <a:off x="6206132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Optimal Weight Discovery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8042910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b="1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Jan 7, 2026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8084343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46 User Prediction Pipeline</a:t>
            </a:r>
            <a:endParaRPr/>
          </a:p>
        </p:txBody>
      </p:sp>
      <p:sp>
        <p:nvSpPr>
          <p:cNvPr id="482" name="Google Shape;482;p34"/>
          <p:cNvSpPr txBox="1"/>
          <p:nvPr/>
        </p:nvSpPr>
        <p:spPr>
          <a:xfrm>
            <a:off x="9921120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b="1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Jan 13</a:t>
            </a:r>
            <a:endParaRPr/>
          </a:p>
        </p:txBody>
      </p:sp>
      <p:sp>
        <p:nvSpPr>
          <p:cNvPr id="483" name="Google Shape;483;p34"/>
          <p:cNvSpPr txBox="1"/>
          <p:nvPr/>
        </p:nvSpPr>
        <p:spPr>
          <a:xfrm>
            <a:off x="9962554" y="3889027"/>
            <a:ext cx="1657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Documentation / Final Submission</a:t>
            </a:r>
            <a:endParaRPr/>
          </a:p>
        </p:txBody>
      </p:sp>
      <p:sp>
        <p:nvSpPr>
          <p:cNvPr id="484" name="Google Shape;484;p34"/>
          <p:cNvSpPr txBox="1"/>
          <p:nvPr/>
        </p:nvSpPr>
        <p:spPr>
          <a:xfrm>
            <a:off x="1016000" y="576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Project Lifecycle &amp; Key Milestones</a:t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571500" y="3006923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1304925" y="329267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5B4FF5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3183135" y="329267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5B4FF5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5061346" y="329267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5B4FF5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6939557" y="329267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5B4FF5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8817768" y="329267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5B4FF5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10695979" y="329267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5B4FF5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A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7" name="Google Shape;4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5"/>
          <p:cNvSpPr txBox="1"/>
          <p:nvPr/>
        </p:nvSpPr>
        <p:spPr>
          <a:xfrm>
            <a:off x="495300" y="1393031"/>
            <a:ext cx="11201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499" name="Google Shape;499;p35"/>
          <p:cNvSpPr txBox="1"/>
          <p:nvPr/>
        </p:nvSpPr>
        <p:spPr>
          <a:xfrm>
            <a:off x="762000" y="2774156"/>
            <a:ext cx="106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attention.</a:t>
            </a:r>
            <a:endParaRPr/>
          </a:p>
        </p:txBody>
      </p:sp>
      <p:sp>
        <p:nvSpPr>
          <p:cNvPr id="500" name="Google Shape;500;p35"/>
          <p:cNvSpPr/>
          <p:nvPr/>
        </p:nvSpPr>
        <p:spPr>
          <a:xfrm>
            <a:off x="5619750" y="3745706"/>
            <a:ext cx="952500" cy="381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5"/>
          <p:cNvSpPr txBox="1"/>
          <p:nvPr/>
        </p:nvSpPr>
        <p:spPr>
          <a:xfrm>
            <a:off x="833425" y="5975443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Télécom SudParis | SemEval 2026 TASK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endParaRPr/>
          </a:p>
        </p:txBody>
      </p:sp>
      <p:sp>
        <p:nvSpPr>
          <p:cNvPr id="502" name="Google Shape;502;p35"/>
          <p:cNvSpPr txBox="1"/>
          <p:nvPr/>
        </p:nvSpPr>
        <p:spPr>
          <a:xfrm>
            <a:off x="6635775" y="4441019"/>
            <a:ext cx="2267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Chang</a:t>
            </a:r>
            <a:r>
              <a:rPr b="1" lang="en-US" sz="14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b="1" i="0" lang="en-US" sz="142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ong </a:t>
            </a: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Hyun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(Subtask 2a)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6118225" y="4687106"/>
            <a:ext cx="9600" cy="2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 txBox="1"/>
          <p:nvPr/>
        </p:nvSpPr>
        <p:spPr>
          <a:xfrm>
            <a:off x="3135325" y="4441025"/>
            <a:ext cx="2394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Rostislav SVITSOV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(Subtask 1)</a:t>
            </a:r>
            <a:endParaRPr b="1" sz="142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